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 Medium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bold r:id="rId25"/>
      <p:boldItalic r:id="rId26"/>
    </p:embeddedFont>
    <p:embeddedFont>
      <p:font typeface="Inter ExtraBold"/>
      <p:bold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ExtraBold-boldItalic.fntdata"/><Relationship Id="rId27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font" Target="fonts/RobotoMonoMedium-regular.fntdata"/><Relationship Id="rId16" Type="http://schemas.openxmlformats.org/officeDocument/2006/relationships/slide" Target="slides/slide11.xml"/><Relationship Id="rId19" Type="http://schemas.openxmlformats.org/officeDocument/2006/relationships/font" Target="fonts/RobotoMonoMedium-italic.fntdata"/><Relationship Id="rId18" Type="http://schemas.openxmlformats.org/officeDocument/2006/relationships/font" Target="fonts/RobotoMon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8883ee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8883ee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78883ee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78883ee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8883ee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78883ee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78883ee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78883ee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78883ee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78883ee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8883ee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8883ee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8883ee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78883ee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78883eef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78883ee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8883eef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78883eef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8883eef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78883eef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2000" y="1333500"/>
            <a:ext cx="4381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IIT Roorkee x Futurense • Capstone</a:t>
            </a:r>
            <a:endParaRPr b="1" sz="111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4995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ForensicTrail</a:t>
            </a:r>
            <a:endParaRPr b="0" sz="4995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66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GenAI-Assisted Investigation of a Simulated Breach</a:t>
            </a:r>
            <a:endParaRPr b="0" sz="1665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5524500" y="857250"/>
            <a:ext cx="2857500" cy="3429000"/>
            <a:chOff x="0" y="0"/>
            <a:chExt cx="2857500" cy="3429000"/>
          </a:xfrm>
        </p:grpSpPr>
        <p:sp>
          <p:nvSpPr>
            <p:cNvPr id="56" name="Google Shape;56;p13"/>
            <p:cNvSpPr/>
            <p:nvPr/>
          </p:nvSpPr>
          <p:spPr>
            <a:xfrm>
              <a:off x="0" y="0"/>
              <a:ext cx="2857500" cy="3429000"/>
            </a:xfrm>
            <a:prstGeom prst="roundRect">
              <a:avLst>
                <a:gd fmla="val 5333" name="adj"/>
              </a:avLst>
            </a:prstGeom>
            <a:solidFill>
              <a:srgbClr val="111827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0"/>
              <a:ext cx="2857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Scope &amp; Evidence Assets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EVD-DISK-001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Workstation WS01-ENG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EVD-MEM-001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RAM Physical Capture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EVD-NET-001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Perimeter Traffic PCAP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EVD-EML-001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Corporate PST Archive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SECURE CHAIN OF CUSTODY</a:t>
              </a:r>
              <a:r>
                <a:rPr lang="en" sz="800">
                  <a:solidFill>
                    <a:srgbClr val="38BDF8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VERIFIED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762000" y="57150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IIT ROORKEE x FUTURENSE • CAPSTONE</a:t>
            </a:r>
            <a:endParaRPr b="1" sz="11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Case Overview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762000" y="1714500"/>
            <a:ext cx="2381400" cy="2476500"/>
            <a:chOff x="0" y="0"/>
            <a:chExt cx="2381400" cy="24765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2381400" cy="2476500"/>
            </a:xfrm>
            <a:prstGeom prst="roundRect">
              <a:avLst>
                <a:gd fmla="val 6400" name="adj"/>
              </a:avLst>
            </a:prstGeom>
            <a:solidFill>
              <a:srgbClr val="111827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228600" y="228600"/>
              <a:ext cx="19242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folder_open</a:t>
              </a:r>
              <a:endParaRPr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MATTER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Investigation into Exfiltration of TurboBlade CAD Files</a:t>
              </a:r>
              <a:endParaRPr b="0" sz="13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3371850" y="1714500"/>
            <a:ext cx="2381400" cy="2476500"/>
            <a:chOff x="0" y="0"/>
            <a:chExt cx="2381400" cy="24765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2381400" cy="2476500"/>
            </a:xfrm>
            <a:prstGeom prst="roundRect">
              <a:avLst>
                <a:gd fmla="val 6400" name="adj"/>
              </a:avLst>
            </a:prstGeom>
            <a:solidFill>
              <a:srgbClr val="111827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228600" y="228600"/>
              <a:ext cx="19242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fingerprint</a:t>
              </a:r>
              <a:endParaRPr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INVESTIGATOR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DFIR Lead Analyst</a:t>
              </a:r>
              <a:endParaRPr b="0" sz="13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5981700" y="1714500"/>
            <a:ext cx="2381400" cy="2476500"/>
            <a:chOff x="0" y="0"/>
            <a:chExt cx="2381400" cy="24765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2381400" cy="2476500"/>
            </a:xfrm>
            <a:prstGeom prst="roundRect">
              <a:avLst>
                <a:gd fmla="val 6400" name="adj"/>
              </a:avLst>
            </a:prstGeom>
            <a:solidFill>
              <a:srgbClr val="111827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228600" y="228600"/>
              <a:ext cx="19242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PROGRAM TRACK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Digital Forensics Essentials (IIT Roorkee x Futurense)</a:t>
              </a:r>
              <a:endParaRPr b="0" sz="13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Case Background &amp; Scope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" name="Google Shape;79;p15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15"/>
          <p:cNvGrpSpPr/>
          <p:nvPr/>
        </p:nvGrpSpPr>
        <p:grpSpPr>
          <a:xfrm>
            <a:off x="1066800" y="2019300"/>
            <a:ext cx="3009900" cy="1866900"/>
            <a:chOff x="0" y="0"/>
            <a:chExt cx="3009900" cy="18669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Case Background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NorthBridge discovered competitive engineering leakage.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83" name="Google Shape;83;p15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067300" y="2019300"/>
            <a:ext cx="3009900" cy="1866900"/>
            <a:chOff x="0" y="0"/>
            <a:chExt cx="3009900" cy="1866900"/>
          </a:xfrm>
        </p:grpSpPr>
        <p:sp>
          <p:nvSpPr>
            <p:cNvPr id="85" name="Google Shape;85;p15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Investigation Scope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Forensic extraction of Workstation WS01-ENG, RAM, perimeter PCAP, and PST archive.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6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92" name="Google Shape;92;p16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Chain of Custody &amp; Hash Integrity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94" name="Google Shape;94;p16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6"/>
          <p:cNvGrpSpPr/>
          <p:nvPr/>
        </p:nvGrpSpPr>
        <p:grpSpPr>
          <a:xfrm>
            <a:off x="1066800" y="2019300"/>
            <a:ext cx="3009900" cy="1866900"/>
            <a:chOff x="0" y="0"/>
            <a:chExt cx="3009900" cy="18669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MASTER EVIDENCE REGISTRY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EVD-DISK-001</a:t>
              </a:r>
              <a:r>
                <a:rPr b="0" lang="en" sz="1100">
                  <a:solidFill>
                    <a:srgbClr val="E2E8F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b="0"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EVD-MEM-001</a:t>
              </a:r>
              <a:r>
                <a:rPr b="0" lang="en" sz="1100">
                  <a:solidFill>
                    <a:srgbClr val="E2E8F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br>
                <a:rPr b="0" lang="en" sz="1100">
                  <a:solidFill>
                    <a:srgbClr val="E2E8F0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b="0"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EVD-NET-001</a:t>
              </a:r>
              <a:r>
                <a:rPr b="0" lang="en" sz="1100">
                  <a:solidFill>
                    <a:srgbClr val="E2E8F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b="0"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EVD-EML-001</a:t>
              </a:r>
              <a:r>
                <a:rPr b="0" lang="en" sz="1100">
                  <a:solidFill>
                    <a:srgbClr val="E2E8F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br>
                <a:rPr b="0" lang="en" sz="1100">
                  <a:solidFill>
                    <a:srgbClr val="E2E8F0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b="0"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EVD-FILE-001</a:t>
              </a:r>
              <a:endParaRPr b="0" sz="11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98" name="Google Shape;98;p16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6"/>
          <p:cNvGrpSpPr/>
          <p:nvPr/>
        </p:nvGrpSpPr>
        <p:grpSpPr>
          <a:xfrm>
            <a:off x="5067300" y="2019300"/>
            <a:ext cx="3009900" cy="1866900"/>
            <a:chOff x="0" y="0"/>
            <a:chExt cx="3009900" cy="18669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INTEGRITY VERIFICATION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Dual verification: Zero hash discrepancy across all forensic images.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107" name="Google Shape;107;p17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 1 – Phishing Vector (Email)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09" name="Google Shape;109;p17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1066800" y="2019300"/>
            <a:ext cx="3009900" cy="1866900"/>
            <a:chOff x="0" y="0"/>
            <a:chExt cx="3009900" cy="1866900"/>
          </a:xfrm>
        </p:grpSpPr>
        <p:sp>
          <p:nvSpPr>
            <p:cNvPr id="111" name="Google Shape;111;p17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mail_outline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DETECTION DETAILS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SPF failure identified on inbound solicitation from competitor recruiter.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13" name="Google Shape;113;p17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067300" y="2019300"/>
            <a:ext cx="3009900" cy="1866900"/>
            <a:chOff x="0" y="0"/>
            <a:chExt cx="3009900" cy="1866900"/>
          </a:xfrm>
        </p:grpSpPr>
        <p:sp>
          <p:nvSpPr>
            <p:cNvPr id="115" name="Google Shape;115;p17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TIMESTAMP &amp; EVIDENCE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Timestamp: 2026-07-27 08:30:12 UTC (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EVD-EML-001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8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122" name="Google Shape;122;p18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 2 – File Access &amp; USB Attachment (Disk)</a:t>
              </a:r>
              <a:endParaRPr b="0" sz="259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24" name="Google Shape;124;p18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18"/>
          <p:cNvGrpSpPr/>
          <p:nvPr/>
        </p:nvGrpSpPr>
        <p:grpSpPr>
          <a:xfrm>
            <a:off x="1066800" y="2019300"/>
            <a:ext cx="3009900" cy="1866900"/>
            <a:chOff x="0" y="0"/>
            <a:chExt cx="3009900" cy="1866900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usb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USB DETECTED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Physical connection of Kingston USB (Serial 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8A23-44DF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 recorded in Registry.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28" name="Google Shape;128;p18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067300" y="2019300"/>
            <a:ext cx="3009900" cy="1866900"/>
            <a:chOff x="0" y="0"/>
            <a:chExt cx="3009900" cy="1866900"/>
          </a:xfrm>
        </p:grpSpPr>
        <p:sp>
          <p:nvSpPr>
            <p:cNvPr id="130" name="Google Shape;130;p18"/>
            <p:cNvSpPr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0" y="0"/>
              <a:ext cx="3009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folder_open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LNK FILE EVIDENCE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LNK file creation confirms manual navigation to CAD directory (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EVD-DISK-001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9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137" name="Google Shape;137;p19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 3 – Execution in Volatile RAM (Memory)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9" name="Google Shape;139;p19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9"/>
          <p:cNvGrpSpPr/>
          <p:nvPr/>
        </p:nvGrpSpPr>
        <p:grpSpPr>
          <a:xfrm>
            <a:off x="1066800" y="1952625"/>
            <a:ext cx="3009900" cy="2000100"/>
            <a:chOff x="0" y="0"/>
            <a:chExt cx="3009900" cy="2000100"/>
          </a:xfrm>
        </p:grpSpPr>
        <p:sp>
          <p:nvSpPr>
            <p:cNvPr id="141" name="Google Shape;141;p19"/>
            <p:cNvSpPr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PROCESS LINEAGE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Volatility 3 </a:t>
              </a:r>
              <a:r>
                <a:rPr b="0" lang="en" sz="120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pstree</a:t>
              </a:r>
              <a:r>
                <a:rPr b="0" lang="en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analysis proves process lineage: </a:t>
              </a:r>
              <a:r>
                <a:rPr b="0" lang="en" sz="120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explorer.exe</a:t>
              </a:r>
              <a:r>
                <a:rPr b="0" lang="en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-&gt; </a:t>
              </a:r>
              <a:r>
                <a:rPr b="0" lang="en" sz="120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cmd.exe</a:t>
              </a:r>
              <a:r>
                <a:rPr b="0" lang="en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(PID 4812) -&gt; </a:t>
              </a:r>
              <a:r>
                <a:rPr b="0" lang="en" sz="120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7z.exe</a:t>
              </a:r>
              <a:r>
                <a:rPr b="0" lang="en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(PID 5120).</a:t>
              </a:r>
              <a:endParaRPr b="0" sz="1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43" name="Google Shape;143;p19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p19"/>
          <p:cNvGrpSpPr/>
          <p:nvPr/>
        </p:nvGrpSpPr>
        <p:grpSpPr>
          <a:xfrm>
            <a:off x="5067300" y="1952625"/>
            <a:ext cx="3009900" cy="2000100"/>
            <a:chOff x="0" y="0"/>
            <a:chExt cx="3009900" cy="2000100"/>
          </a:xfrm>
        </p:grpSpPr>
        <p:sp>
          <p:nvSpPr>
            <p:cNvPr id="145" name="Google Shape;145;p19"/>
            <p:cNvSpPr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archive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STAGING &amp; ARCHIVING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Staging command archived files into 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archive.7z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(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EVD-MEM-001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762000" y="571500"/>
            <a:ext cx="7620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IIT Roorkee x Futurense • Capstone</a:t>
            </a:r>
            <a:endParaRPr b="1" sz="11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Phase 4 – Network Exfiltration (PCAP)</a:t>
            </a:r>
            <a:endParaRPr b="0" sz="2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1066800" y="1952625"/>
            <a:ext cx="30099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cloud_upload</a:t>
            </a:r>
            <a:endParaRPr b="0" sz="28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OUTBOUND TRANSFER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Outbound 14.2 MB transfer over HTTPS to </a:t>
            </a:r>
            <a:r>
              <a:rPr b="0" lang="en" sz="1350">
                <a:solidFill>
                  <a:srgbClr val="38BDF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198.51.100.45</a:t>
            </a:r>
            <a:r>
              <a:rPr b="0" lang="en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(</a:t>
            </a:r>
            <a:r>
              <a:rPr b="0" lang="en" sz="1350">
                <a:solidFill>
                  <a:srgbClr val="38BDF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EVD-NET-001</a:t>
            </a:r>
            <a:r>
              <a:rPr b="0" lang="en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).</a:t>
            </a:r>
            <a:endParaRPr b="0" sz="1350">
              <a:solidFill>
                <a:srgbClr val="E2E8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5067300" y="1952625"/>
            <a:ext cx="30099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endParaRPr b="0" sz="28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PAYLOAD ANALYSIS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Payload size corresponds to encrypted 7z container.</a:t>
            </a:r>
            <a:endParaRPr b="0" sz="1350">
              <a:solidFill>
                <a:srgbClr val="E2E8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1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161" name="Google Shape;161;p21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 5 – Anti-Forensic Deletion &amp; Recovery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3" name="Google Shape;163;p21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21"/>
          <p:cNvGrpSpPr/>
          <p:nvPr/>
        </p:nvGrpSpPr>
        <p:grpSpPr>
          <a:xfrm>
            <a:off x="1066800" y="1952625"/>
            <a:ext cx="3009900" cy="2000100"/>
            <a:chOff x="0" y="0"/>
            <a:chExt cx="3009900" cy="2000100"/>
          </a:xfrm>
        </p:grpSpPr>
        <p:sp>
          <p:nvSpPr>
            <p:cNvPr id="165" name="Google Shape;165;p21"/>
            <p:cNvSpPr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delete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MFT RECORD DELETION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MFT Record 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#42109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showed deletion at 14:45:00 UTC.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67" name="Google Shape;167;p21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1"/>
          <p:cNvGrpSpPr/>
          <p:nvPr/>
        </p:nvGrpSpPr>
        <p:grpSpPr>
          <a:xfrm>
            <a:off x="5067300" y="1952625"/>
            <a:ext cx="3009900" cy="2000100"/>
            <a:chOff x="0" y="0"/>
            <a:chExt cx="3009900" cy="2000100"/>
          </a:xfrm>
        </p:grpSpPr>
        <p:sp>
          <p:nvSpPr>
            <p:cNvPr id="169" name="Google Shape;169;p21"/>
            <p:cNvSpPr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0" y="0"/>
              <a:ext cx="30099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unarchive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FILE CARVING &amp; RECOVERY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Intact CAD file successfully carved from unallocated space (</a:t>
              </a:r>
              <a:r>
                <a:rPr b="0" lang="en" sz="135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EVD-FILE-001</a:t>
              </a:r>
              <a:r>
                <a:rPr b="0" lang="en" sz="13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).</a:t>
              </a:r>
              <a:endParaRPr b="0" sz="13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2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176" name="Google Shape;176;p22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2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Super-Timeline Reconstruction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8" name="Google Shape;178;p22"/>
          <p:cNvSpPr/>
          <p:nvPr/>
        </p:nvSpPr>
        <p:spPr>
          <a:xfrm>
            <a:off x="762000" y="1714500"/>
            <a:ext cx="76200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22"/>
          <p:cNvGrpSpPr/>
          <p:nvPr/>
        </p:nvGrpSpPr>
        <p:grpSpPr>
          <a:xfrm>
            <a:off x="1066800" y="1952625"/>
            <a:ext cx="7010400" cy="2000100"/>
            <a:chOff x="0" y="0"/>
            <a:chExt cx="7010400" cy="2000100"/>
          </a:xfrm>
        </p:grpSpPr>
        <p:sp>
          <p:nvSpPr>
            <p:cNvPr id="180" name="Google Shape;180;p22"/>
            <p:cNvSpPr/>
            <p:nvPr/>
          </p:nvSpPr>
          <p:spPr>
            <a:xfrm>
              <a:off x="0" y="0"/>
              <a:ext cx="70104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 txBox="1"/>
            <p:nvPr/>
          </p:nvSpPr>
          <p:spPr>
            <a:xfrm>
              <a:off x="0" y="0"/>
              <a:ext cx="7010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timeline</a:t>
              </a:r>
              <a:endParaRPr b="0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EVENT PROGRESSION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Complete end-to-end event progression mapped with </a:t>
              </a:r>
              <a:r>
                <a:rPr b="0" lang="en" sz="1500">
                  <a:solidFill>
                    <a:srgbClr val="38BDF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Plaso timeline</a:t>
              </a:r>
              <a:r>
                <a:rPr b="0" lang="en" sz="15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endParaRPr b="0" sz="15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3"/>
          <p:cNvGrpSpPr/>
          <p:nvPr/>
        </p:nvGrpSpPr>
        <p:grpSpPr>
          <a:xfrm>
            <a:off x="762000" y="571500"/>
            <a:ext cx="7620000" cy="857400"/>
            <a:chOff x="0" y="0"/>
            <a:chExt cx="7620000" cy="857400"/>
          </a:xfrm>
        </p:grpSpPr>
        <p:sp>
          <p:nvSpPr>
            <p:cNvPr id="187" name="Google Shape;187;p23"/>
            <p:cNvSpPr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 txBox="1"/>
            <p:nvPr/>
          </p:nvSpPr>
          <p:spPr>
            <a:xfrm>
              <a:off x="0" y="0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IIT Roorkee x Futurense • Capstone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AI Verification Disclosure &amp; Closing Remarks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9" name="Google Shape;189;p23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1066800" y="1952625"/>
            <a:ext cx="30099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fact_check</a:t>
            </a:r>
            <a:endParaRPr b="0" sz="28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VERIFICATION &amp; AUDIT</a:t>
            </a:r>
            <a:endParaRPr b="0" sz="9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r>
              <a:rPr b="0" lang="en" sz="13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of LLM drafts subjected to human-in-the-loop audit against hash-backed artifacts.</a:t>
            </a:r>
            <a:endParaRPr b="0" sz="13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4762500" y="1714500"/>
            <a:ext cx="3619500" cy="2476500"/>
          </a:xfrm>
          <a:prstGeom prst="roundRect">
            <a:avLst>
              <a:gd fmla="val 6153" name="adj"/>
            </a:avLst>
          </a:prstGeom>
          <a:solidFill>
            <a:srgbClr val="111827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5067300" y="1952625"/>
            <a:ext cx="30099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gavel</a:t>
            </a:r>
            <a:endParaRPr b="0" sz="28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CLOSING REMARKS</a:t>
            </a:r>
            <a:endParaRPr b="0" sz="9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Evidence supports findings of </a:t>
            </a:r>
            <a:r>
              <a:rPr b="1" lang="en" sz="130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deliberate data exfiltration</a:t>
            </a:r>
            <a:r>
              <a:rPr b="0" lang="en" sz="13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 b="0" sz="13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